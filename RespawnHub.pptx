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e94fead-a814-92cd-554d-894a0b40fb05}">
          <p14:sldIdLst>
            <p14:sldId id="256"/>
            <p14:sldId id="257"/>
          </p14:sldIdLst>
        </p14:section>
        <p14:section name="The app" id="{8b76ea94-92b0-5053-2826-899f237da982}">
          <p14:sldIdLst>
            <p14:sldId id="258"/>
            <p14:sldId id="259"/>
          </p14:sldIdLst>
        </p14:section>
        <p14:section name="Pipeline" id="{7858b3f1-3840-fc4f-42d9-da2a729926a2}">
          <p14:sldIdLst>
            <p14:sldId id="260"/>
            <p14:sldId id="261"/>
          </p14:sldIdLst>
        </p14:section>
        <p14:section name="Running it" id="{366de4ae-f804-7429-591b-ce0714da1b30}">
          <p14:sldIdLst>
            <p14:sldId id="262"/>
            <p14:sldId id="263"/>
            <p14:sldId id="264"/>
          </p14:sldIdLst>
        </p14:section>
        <p14:section name="Cloud" id="{807435d1-d428-c05c-ea95-8714cd44397d}">
          <p14:sldIdLst>
            <p14:sldId id="265"/>
            <p14:sldId id="266"/>
          </p14:sldIdLst>
        </p14:section>
        <p14:section name="Wrap up" id="{554a25f6-6c32-f61b-01d7-1130324d4e77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RespawnHub is a booking app for a gaming cafe. In this talk: what it does, and how a change goes from my laptop to a cluster on AWS, tested, scanned, deployed and monitored.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itesh381/respawnhub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itesh381/respawnhub" TargetMode="Externa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Respawn</a:t>
            </a:r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Hub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Live floor and bookings for a gaming cafe, built and shipped like a real product</a:t>
            </a:r>
            <a:endParaRPr lang="en-US" sz="2000" dirty="0"/>
          </a:p>
        </p:txBody>
      </p:sp>
      <p:sp>
        <p:nvSpPr>
          <p:cNvPr id="4" name="author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Ritesh Prajapati</a:t>
            </a:r>
            <a:endParaRPr lang="en-US" sz="1800" dirty="0"/>
          </a:p>
        </p:txBody>
      </p:sp>
      <p:sp>
        <p:nvSpPr>
          <p:cNvPr id="5" name="repo link">
            <a:hlinkClick r:id="rId1" tooltip=""/>
          </p:cNvPr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github.com/Ritesh381/respawnhub</a:t>
            </a:r>
            <a:endParaRPr lang="en-US" sz="1400" dirty="0"/>
          </a:p>
        </p:txBody>
      </p:sp>
      <p:sp>
        <p:nvSpPr>
          <p:cNvPr id="6" name="floor screenshot frame"/>
          <p:cNvSpPr/>
          <p:nvPr/>
        </p:nvSpPr>
        <p:spPr>
          <a:xfrm>
            <a:off x="6620256" y="1408176"/>
            <a:ext cx="5138928" cy="3255264"/>
          </a:xfrm>
          <a:prstGeom prst="roundRect">
            <a:avLst>
              <a:gd name="adj" fmla="val 2247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floor screenshot" descr="/Users/riteshprajapati/Desktop/SST/respawnhub/docs/screenshots/07-compose-ui-flo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75120" y="1463040"/>
            <a:ext cx="5029200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problem at a gaming cafe</a:t>
            </a:r>
            <a:endParaRPr lang="en-US" sz="3600" dirty="0"/>
          </a:p>
        </p:txBody>
      </p:sp>
      <p:sp>
        <p:nvSpPr>
          <p:cNvPr id="3" name="problem 1"/>
          <p:cNvSpPr/>
          <p:nvPr/>
        </p:nvSpPr>
        <p:spPr>
          <a:xfrm>
            <a:off x="548640" y="15544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4" name="problem 1 dot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4FD8"/>
            </a:solidFill>
            <a:prstDash val="solid"/>
          </a:ln>
        </p:spPr>
      </p:sp>
      <p:sp>
        <p:nvSpPr>
          <p:cNvPr id="5" name="problem 1 label"/>
          <p:cNvSpPr txBox="1"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2x</a:t>
            </a:r>
            <a:endParaRPr lang="en-US" sz="1600" dirty="0"/>
          </a:p>
        </p:txBody>
      </p:sp>
      <p:sp>
        <p:nvSpPr>
          <p:cNvPr id="6" name="problem 1 head"/>
          <p:cNvSpPr txBox="1"/>
          <p:nvPr/>
        </p:nvSpPr>
        <p:spPr>
          <a:xfrm>
            <a:off x="868680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Double bookings</a:t>
            </a:r>
            <a:endParaRPr lang="en-US" sz="2200" dirty="0"/>
          </a:p>
        </p:txBody>
      </p:sp>
      <p:sp>
        <p:nvSpPr>
          <p:cNvPr id="7" name="problem 1 body"/>
          <p:cNvSpPr txBox="1"/>
          <p:nvPr/>
        </p:nvSpPr>
        <p:spPr>
          <a:xfrm>
            <a:off x="868680" y="3429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Two players turn up for the same PC at 7 pm, and someone goes home unhappy.</a:t>
            </a:r>
            <a:endParaRPr lang="en-US" sz="1600" dirty="0"/>
          </a:p>
        </p:txBody>
      </p:sp>
      <p:sp>
        <p:nvSpPr>
          <p:cNvPr id="8" name="problem 2"/>
          <p:cNvSpPr/>
          <p:nvPr/>
        </p:nvSpPr>
        <p:spPr>
          <a:xfrm>
            <a:off x="4297680" y="15544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9" name="problem 2 dot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problem 2 label"/>
          <p:cNvSpPr txBox="1"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?</a:t>
            </a:r>
            <a:endParaRPr lang="en-US" sz="1600" dirty="0"/>
          </a:p>
        </p:txBody>
      </p:sp>
      <p:sp>
        <p:nvSpPr>
          <p:cNvPr id="11" name="problem 2 head"/>
          <p:cNvSpPr txBox="1"/>
          <p:nvPr/>
        </p:nvSpPr>
        <p:spPr>
          <a:xfrm>
            <a:off x="4617720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Nobody knows what is free</a:t>
            </a:r>
            <a:endParaRPr lang="en-US" sz="2200" dirty="0"/>
          </a:p>
        </p:txBody>
      </p:sp>
      <p:sp>
        <p:nvSpPr>
          <p:cNvPr id="12" name="problem 2 body"/>
          <p:cNvSpPr txBox="1"/>
          <p:nvPr/>
        </p:nvSpPr>
        <p:spPr>
          <a:xfrm>
            <a:off x="4617720" y="3429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Staff walk the floor or flip through a notebook to find a free console.</a:t>
            </a:r>
            <a:endParaRPr lang="en-US" sz="1600" dirty="0"/>
          </a:p>
        </p:txBody>
      </p:sp>
      <p:sp>
        <p:nvSpPr>
          <p:cNvPr id="13" name="problem 3"/>
          <p:cNvSpPr/>
          <p:nvPr/>
        </p:nvSpPr>
        <p:spPr>
          <a:xfrm>
            <a:off x="8046720" y="15544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4" name="problem 3 dot"/>
          <p:cNvSpPr/>
          <p:nvPr/>
        </p:nvSpPr>
        <p:spPr>
          <a:xfrm>
            <a:off x="8366760" y="1874520"/>
            <a:ext cx="457200" cy="457200"/>
          </a:xfrm>
          <a:prstGeom prst="ellipse">
            <a:avLst/>
          </a:prstGeom>
          <a:solidFill>
            <a:srgbClr val="B4F03C"/>
          </a:solidFill>
          <a:ln w="12700">
            <a:solidFill>
              <a:srgbClr val="B4F03C"/>
            </a:solidFill>
            <a:prstDash val="solid"/>
          </a:ln>
        </p:spPr>
      </p:sp>
      <p:sp>
        <p:nvSpPr>
          <p:cNvPr id="15" name="problem 3 label"/>
          <p:cNvSpPr txBox="1"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₹</a:t>
            </a:r>
            <a:endParaRPr lang="en-US" sz="1600" dirty="0"/>
          </a:p>
        </p:txBody>
      </p:sp>
      <p:sp>
        <p:nvSpPr>
          <p:cNvPr id="16" name="problem 3 head"/>
          <p:cNvSpPr txBox="1"/>
          <p:nvPr/>
        </p:nvSpPr>
        <p:spPr>
          <a:xfrm>
            <a:off x="8366760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No numbers</a:t>
            </a:r>
            <a:endParaRPr lang="en-US" sz="2200" dirty="0"/>
          </a:p>
        </p:txBody>
      </p:sp>
      <p:sp>
        <p:nvSpPr>
          <p:cNvPr id="17" name="problem 3 body"/>
          <p:cNvSpPr txBox="1"/>
          <p:nvPr/>
        </p:nvSpPr>
        <p:spPr>
          <a:xfrm>
            <a:off x="8366760" y="3429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How busy were we today? What did we earn? Nobody can say until closing.</a:t>
            </a:r>
            <a:endParaRPr lang="en-US" sz="1600" dirty="0"/>
          </a:p>
        </p:txBody>
      </p:sp>
      <p:sp>
        <p:nvSpPr>
          <p:cNvPr id="18" name="answer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RespawnHub puts the whole floor on one screen and refuses a booking that clashes.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staff see</a:t>
            </a:r>
            <a:endParaRPr lang="en-US" sz="3600" dirty="0"/>
          </a:p>
        </p:txBody>
      </p:sp>
      <p:sp>
        <p:nvSpPr>
          <p:cNvPr id="3" name="app floor frame"/>
          <p:cNvSpPr/>
          <p:nvPr/>
        </p:nvSpPr>
        <p:spPr>
          <a:xfrm>
            <a:off x="493776" y="13167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app floor" descr="/Users/riteshprajapati/Desktop/SST/respawnhub/docs/screenshots/26-kind-ui-new-bui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feature 1 dot"/>
          <p:cNvSpPr/>
          <p:nvPr/>
        </p:nvSpPr>
        <p:spPr>
          <a:xfrm>
            <a:off x="7955280" y="1490472"/>
            <a:ext cx="256032" cy="256032"/>
          </a:xfrm>
          <a:prstGeom prst="ellipse">
            <a:avLst/>
          </a:prstGeom>
          <a:solidFill>
            <a:srgbClr val="B4F03C"/>
          </a:solidFill>
          <a:ln w="12700">
            <a:solidFill>
              <a:srgbClr val="B4F03C"/>
            </a:solidFill>
            <a:prstDash val="solid"/>
          </a:ln>
        </p:spPr>
      </p:sp>
      <p:sp>
        <p:nvSpPr>
          <p:cNvPr id="6" name="feature 1 head"/>
          <p:cNvSpPr txBox="1"/>
          <p:nvPr/>
        </p:nvSpPr>
        <p:spPr>
          <a:xfrm>
            <a:off x="836676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Live floor</a:t>
            </a:r>
            <a:endParaRPr lang="en-US" sz="2000" dirty="0"/>
          </a:p>
        </p:txBody>
      </p:sp>
      <p:sp>
        <p:nvSpPr>
          <p:cNvPr id="7" name="feature 1 body"/>
          <p:cNvSpPr txBox="1"/>
          <p:nvPr/>
        </p:nvSpPr>
        <p:spPr>
          <a:xfrm>
            <a:off x="836676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Every PC, PS5, Xbox and the VR pod, coloured free, live, reserved soon or under maintenance.</a:t>
            </a:r>
            <a:endParaRPr lang="en-US" sz="1500" dirty="0"/>
          </a:p>
        </p:txBody>
      </p:sp>
      <p:sp>
        <p:nvSpPr>
          <p:cNvPr id="8" name="feature 2 dot"/>
          <p:cNvSpPr/>
          <p:nvPr/>
        </p:nvSpPr>
        <p:spPr>
          <a:xfrm>
            <a:off x="7955280" y="2953512"/>
            <a:ext cx="256032" cy="256032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4FD8"/>
            </a:solidFill>
            <a:prstDash val="solid"/>
          </a:ln>
        </p:spPr>
      </p:sp>
      <p:sp>
        <p:nvSpPr>
          <p:cNvPr id="9" name="feature 2 head"/>
          <p:cNvSpPr txBox="1"/>
          <p:nvPr/>
        </p:nvSpPr>
        <p:spPr>
          <a:xfrm>
            <a:off x="8366760" y="2880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Safe bookings</a:t>
            </a:r>
            <a:endParaRPr lang="en-US" sz="2000" dirty="0"/>
          </a:p>
        </p:txBody>
      </p:sp>
      <p:sp>
        <p:nvSpPr>
          <p:cNvPr id="10" name="feature 2 body"/>
          <p:cNvSpPr txBox="1"/>
          <p:nvPr/>
        </p:nvSpPr>
        <p:spPr>
          <a:xfrm>
            <a:off x="836676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30 minute slots. A booking that overlaps another on the same station is refused.</a:t>
            </a:r>
            <a:endParaRPr lang="en-US" sz="1500" dirty="0"/>
          </a:p>
        </p:txBody>
      </p:sp>
      <p:sp>
        <p:nvSpPr>
          <p:cNvPr id="11" name="feature 3 dot"/>
          <p:cNvSpPr/>
          <p:nvPr/>
        </p:nvSpPr>
        <p:spPr>
          <a:xfrm>
            <a:off x="7955280" y="4416552"/>
            <a:ext cx="256032" cy="256032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2" name="feature 3 head"/>
          <p:cNvSpPr txBox="1"/>
          <p:nvPr/>
        </p:nvSpPr>
        <p:spPr>
          <a:xfrm>
            <a:off x="836676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Today's numbers</a:t>
            </a:r>
            <a:endParaRPr lang="en-US" sz="2000" dirty="0"/>
          </a:p>
        </p:txBody>
      </p:sp>
      <p:sp>
        <p:nvSpPr>
          <p:cNvPr id="13" name="feature 3 body"/>
          <p:cNvSpPr txBox="1"/>
          <p:nvPr/>
        </p:nvSpPr>
        <p:spPr>
          <a:xfrm>
            <a:off x="836676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Who is playing now, occupancy, bookings and revenue for the day.</a:t>
            </a:r>
            <a:endParaRPr lang="en-US" sz="1500" dirty="0"/>
          </a:p>
        </p:txBody>
      </p:sp>
      <p:sp>
        <p:nvSpPr>
          <p:cNvPr id="14" name="phone note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Works on a phone too, so staff can check the floor while walking around.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it is built</a:t>
            </a:r>
            <a:endParaRPr lang="en-US" sz="3600" dirty="0"/>
          </a:p>
        </p:txBody>
      </p:sp>
      <p:sp>
        <p:nvSpPr>
          <p:cNvPr id="3" name="tier 1"/>
          <p:cNvSpPr/>
          <p:nvPr/>
        </p:nvSpPr>
        <p:spPr>
          <a:xfrm>
            <a:off x="548640" y="18288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4" name="tier 1 dot"/>
          <p:cNvSpPr/>
          <p:nvPr/>
        </p:nvSpPr>
        <p:spPr>
          <a:xfrm>
            <a:off x="822960" y="2103120"/>
            <a:ext cx="329184" cy="329184"/>
          </a:xfrm>
          <a:prstGeom prst="ellipse">
            <a:avLst/>
          </a:prstGeom>
          <a:solidFill>
            <a:srgbClr val="3D4656"/>
          </a:solidFill>
          <a:ln w="12700">
            <a:solidFill>
              <a:srgbClr val="3D4656"/>
            </a:solidFill>
            <a:prstDash val="solid"/>
          </a:ln>
        </p:spPr>
      </p:sp>
      <p:sp>
        <p:nvSpPr>
          <p:cNvPr id="5" name="tier 1 head"/>
          <p:cNvSpPr txBox="1"/>
          <p:nvPr/>
        </p:nvSpPr>
        <p:spPr>
          <a:xfrm>
            <a:off x="82296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Browser</a:t>
            </a:r>
            <a:endParaRPr lang="en-US" sz="2200" dirty="0"/>
          </a:p>
        </p:txBody>
      </p:sp>
      <p:sp>
        <p:nvSpPr>
          <p:cNvPr id="6" name="tier 1 body"/>
          <p:cNvSpPr txBox="1"/>
          <p:nvPr/>
        </p:nvSpPr>
        <p:spPr>
          <a:xfrm>
            <a:off x="822960" y="3108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Staff open the app on a laptop or phone</a:t>
            </a:r>
            <a:endParaRPr lang="en-US" sz="1500" dirty="0"/>
          </a:p>
        </p:txBody>
      </p:sp>
      <p:sp>
        <p:nvSpPr>
          <p:cNvPr id="7" name="tier arrow 1"/>
          <p:cNvSpPr/>
          <p:nvPr/>
        </p:nvSpPr>
        <p:spPr>
          <a:xfrm>
            <a:off x="3090672" y="2834640"/>
            <a:ext cx="329184" cy="365760"/>
          </a:xfrm>
          <a:prstGeom prst="rightArrow">
            <a:avLst/>
          </a:prstGeom>
          <a:solidFill>
            <a:srgbClr val="3D4656"/>
          </a:solidFill>
          <a:ln w="12700">
            <a:solidFill>
              <a:srgbClr val="3D4656"/>
            </a:solidFill>
            <a:prstDash val="solid"/>
          </a:ln>
        </p:spPr>
      </p:sp>
      <p:sp>
        <p:nvSpPr>
          <p:cNvPr id="8" name="tier 2"/>
          <p:cNvSpPr/>
          <p:nvPr/>
        </p:nvSpPr>
        <p:spPr>
          <a:xfrm>
            <a:off x="3474720" y="18288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9" name="tier 2 dot"/>
          <p:cNvSpPr/>
          <p:nvPr/>
        </p:nvSpPr>
        <p:spPr>
          <a:xfrm>
            <a:off x="3749040" y="2103120"/>
            <a:ext cx="329184" cy="329184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0" name="tier 2 head"/>
          <p:cNvSpPr txBox="1"/>
          <p:nvPr/>
        </p:nvSpPr>
        <p:spPr>
          <a:xfrm>
            <a:off x="374904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React app</a:t>
            </a:r>
            <a:endParaRPr lang="en-US" sz="2200" dirty="0"/>
          </a:p>
        </p:txBody>
      </p:sp>
      <p:sp>
        <p:nvSpPr>
          <p:cNvPr id="11" name="tier 2 body"/>
          <p:cNvSpPr txBox="1"/>
          <p:nvPr/>
        </p:nvSpPr>
        <p:spPr>
          <a:xfrm>
            <a:off x="3749040" y="3108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screens. Served by nginx as plain files</a:t>
            </a:r>
            <a:endParaRPr lang="en-US" sz="1500" dirty="0"/>
          </a:p>
        </p:txBody>
      </p:sp>
      <p:sp>
        <p:nvSpPr>
          <p:cNvPr id="12" name="tier arrow 2"/>
          <p:cNvSpPr/>
          <p:nvPr/>
        </p:nvSpPr>
        <p:spPr>
          <a:xfrm>
            <a:off x="6016752" y="2834640"/>
            <a:ext cx="329184" cy="365760"/>
          </a:xfrm>
          <a:prstGeom prst="rightArrow">
            <a:avLst/>
          </a:prstGeom>
          <a:solidFill>
            <a:srgbClr val="3D4656"/>
          </a:solidFill>
          <a:ln w="12700">
            <a:solidFill>
              <a:srgbClr val="3D4656"/>
            </a:solidFill>
            <a:prstDash val="solid"/>
          </a:ln>
        </p:spPr>
      </p:sp>
      <p:sp>
        <p:nvSpPr>
          <p:cNvPr id="13" name="tier 3"/>
          <p:cNvSpPr/>
          <p:nvPr/>
        </p:nvSpPr>
        <p:spPr>
          <a:xfrm>
            <a:off x="6400800" y="18288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4" name="tier 3 dot"/>
          <p:cNvSpPr/>
          <p:nvPr/>
        </p:nvSpPr>
        <p:spPr>
          <a:xfrm>
            <a:off x="6675120" y="2103120"/>
            <a:ext cx="329184" cy="329184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4FD8"/>
            </a:solidFill>
            <a:prstDash val="solid"/>
          </a:ln>
        </p:spPr>
      </p:sp>
      <p:sp>
        <p:nvSpPr>
          <p:cNvPr id="15" name="tier 3 head"/>
          <p:cNvSpPr txBox="1"/>
          <p:nvPr/>
        </p:nvSpPr>
        <p:spPr>
          <a:xfrm>
            <a:off x="667512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FastAPI</a:t>
            </a:r>
            <a:endParaRPr lang="en-US" sz="2200" dirty="0"/>
          </a:p>
        </p:txBody>
      </p:sp>
      <p:sp>
        <p:nvSpPr>
          <p:cNvPr id="16" name="tier 3 body"/>
          <p:cNvSpPr txBox="1"/>
          <p:nvPr/>
        </p:nvSpPr>
        <p:spPr>
          <a:xfrm>
            <a:off x="6675120" y="3108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rules: prices, overlaps, live status</a:t>
            </a:r>
            <a:endParaRPr lang="en-US" sz="1500" dirty="0"/>
          </a:p>
        </p:txBody>
      </p:sp>
      <p:sp>
        <p:nvSpPr>
          <p:cNvPr id="17" name="tier arrow 3"/>
          <p:cNvSpPr/>
          <p:nvPr/>
        </p:nvSpPr>
        <p:spPr>
          <a:xfrm>
            <a:off x="8942832" y="2834640"/>
            <a:ext cx="329184" cy="365760"/>
          </a:xfrm>
          <a:prstGeom prst="rightArrow">
            <a:avLst/>
          </a:prstGeom>
          <a:solidFill>
            <a:srgbClr val="3D4656"/>
          </a:solidFill>
          <a:ln w="12700">
            <a:solidFill>
              <a:srgbClr val="3D4656"/>
            </a:solidFill>
            <a:prstDash val="solid"/>
          </a:ln>
        </p:spPr>
      </p:sp>
      <p:sp>
        <p:nvSpPr>
          <p:cNvPr id="18" name="tier 4"/>
          <p:cNvSpPr/>
          <p:nvPr/>
        </p:nvSpPr>
        <p:spPr>
          <a:xfrm>
            <a:off x="9326880" y="182880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9" name="tier 4 dot"/>
          <p:cNvSpPr/>
          <p:nvPr/>
        </p:nvSpPr>
        <p:spPr>
          <a:xfrm>
            <a:off x="9601200" y="2103120"/>
            <a:ext cx="329184" cy="329184"/>
          </a:xfrm>
          <a:prstGeom prst="ellipse">
            <a:avLst/>
          </a:prstGeom>
          <a:solidFill>
            <a:srgbClr val="B4F03C"/>
          </a:solidFill>
          <a:ln w="12700">
            <a:solidFill>
              <a:srgbClr val="B4F03C"/>
            </a:solidFill>
            <a:prstDash val="solid"/>
          </a:ln>
        </p:spPr>
      </p:sp>
      <p:sp>
        <p:nvSpPr>
          <p:cNvPr id="20" name="tier 4 head"/>
          <p:cNvSpPr txBox="1"/>
          <p:nvPr/>
        </p:nvSpPr>
        <p:spPr>
          <a:xfrm>
            <a:off x="960120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PostgreSQL</a:t>
            </a:r>
            <a:endParaRPr lang="en-US" sz="2200" dirty="0"/>
          </a:p>
        </p:txBody>
      </p:sp>
      <p:sp>
        <p:nvSpPr>
          <p:cNvPr id="21" name="tier 4 body"/>
          <p:cNvSpPr txBox="1"/>
          <p:nvPr/>
        </p:nvSpPr>
        <p:spPr>
          <a:xfrm>
            <a:off x="9601200" y="3108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Stations and bookings, kept safe on disk</a:t>
            </a:r>
            <a:endParaRPr lang="en-US" sz="1500" dirty="0"/>
          </a:p>
        </p:txBody>
      </p:sp>
      <p:sp>
        <p:nvSpPr>
          <p:cNvPr id="22" name="why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Why these: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React and FastAPI are quick to build with and FastAPI writes the API docs itself. PostgreSQL can lock a station while it checks for a clash, so two staff booking at the same moment cannot both win.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a commit to the cafe floor</a:t>
            </a:r>
            <a:endParaRPr lang="en-US" sz="3600" dirty="0"/>
          </a:p>
        </p:txBody>
      </p:sp>
      <p:sp>
        <p:nvSpPr>
          <p:cNvPr id="3" name="step 1 chevron"/>
          <p:cNvSpPr/>
          <p:nvPr/>
        </p:nvSpPr>
        <p:spPr>
          <a:xfrm>
            <a:off x="5486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4" name="step 1 head"/>
          <p:cNvSpPr txBox="1"/>
          <p:nvPr/>
        </p:nvSpPr>
        <p:spPr>
          <a:xfrm>
            <a:off x="8229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Commit</a:t>
            </a:r>
            <a:endParaRPr lang="en-US" sz="1500" dirty="0"/>
          </a:p>
        </p:txBody>
      </p:sp>
      <p:sp>
        <p:nvSpPr>
          <p:cNvPr id="5" name="step 1 body"/>
          <p:cNvSpPr txBox="1"/>
          <p:nvPr/>
        </p:nvSpPr>
        <p:spPr>
          <a:xfrm>
            <a:off x="5486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 push a change to GitHub</a:t>
            </a:r>
            <a:endParaRPr lang="en-US" sz="1400" dirty="0"/>
          </a:p>
        </p:txBody>
      </p:sp>
      <p:sp>
        <p:nvSpPr>
          <p:cNvPr id="6" name="step 2 chevron"/>
          <p:cNvSpPr/>
          <p:nvPr/>
        </p:nvSpPr>
        <p:spPr>
          <a:xfrm>
            <a:off x="21488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7" name="step 2 head"/>
          <p:cNvSpPr txBox="1"/>
          <p:nvPr/>
        </p:nvSpPr>
        <p:spPr>
          <a:xfrm>
            <a:off x="24231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Test</a:t>
            </a:r>
            <a:endParaRPr lang="en-US" sz="1500" dirty="0"/>
          </a:p>
        </p:txBody>
      </p:sp>
      <p:sp>
        <p:nvSpPr>
          <p:cNvPr id="8" name="step 2 body"/>
          <p:cNvSpPr txBox="1"/>
          <p:nvPr/>
        </p:nvSpPr>
        <p:spPr>
          <a:xfrm>
            <a:off x="21488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47 automatic checks run</a:t>
            </a:r>
            <a:endParaRPr lang="en-US" sz="1400" dirty="0"/>
          </a:p>
        </p:txBody>
      </p:sp>
      <p:sp>
        <p:nvSpPr>
          <p:cNvPr id="9" name="step 3 chevron"/>
          <p:cNvSpPr/>
          <p:nvPr/>
        </p:nvSpPr>
        <p:spPr>
          <a:xfrm>
            <a:off x="37490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10" name="step 3 head"/>
          <p:cNvSpPr txBox="1"/>
          <p:nvPr/>
        </p:nvSpPr>
        <p:spPr>
          <a:xfrm>
            <a:off x="40233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Package</a:t>
            </a:r>
            <a:endParaRPr lang="en-US" sz="1500" dirty="0"/>
          </a:p>
        </p:txBody>
      </p:sp>
      <p:sp>
        <p:nvSpPr>
          <p:cNvPr id="11" name="step 3 body"/>
          <p:cNvSpPr txBox="1"/>
          <p:nvPr/>
        </p:nvSpPr>
        <p:spPr>
          <a:xfrm>
            <a:off x="3749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Two Docker images are built</a:t>
            </a:r>
            <a:endParaRPr lang="en-US" sz="1400" dirty="0"/>
          </a:p>
        </p:txBody>
      </p:sp>
      <p:sp>
        <p:nvSpPr>
          <p:cNvPr id="12" name="step 4 chevron"/>
          <p:cNvSpPr/>
          <p:nvPr/>
        </p:nvSpPr>
        <p:spPr>
          <a:xfrm>
            <a:off x="53492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13" name="step 4 head"/>
          <p:cNvSpPr txBox="1"/>
          <p:nvPr/>
        </p:nvSpPr>
        <p:spPr>
          <a:xfrm>
            <a:off x="56235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Scan</a:t>
            </a:r>
            <a:endParaRPr lang="en-US" sz="1500" dirty="0"/>
          </a:p>
        </p:txBody>
      </p:sp>
      <p:sp>
        <p:nvSpPr>
          <p:cNvPr id="14" name="step 4 body"/>
          <p:cNvSpPr txBox="1"/>
          <p:nvPr/>
        </p:nvSpPr>
        <p:spPr>
          <a:xfrm>
            <a:off x="53492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Trivy looks for known holes</a:t>
            </a:r>
            <a:endParaRPr lang="en-US" sz="1400" dirty="0"/>
          </a:p>
        </p:txBody>
      </p:sp>
      <p:sp>
        <p:nvSpPr>
          <p:cNvPr id="15" name="step 5 chevron"/>
          <p:cNvSpPr/>
          <p:nvPr/>
        </p:nvSpPr>
        <p:spPr>
          <a:xfrm>
            <a:off x="69494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16" name="step 5 head"/>
          <p:cNvSpPr txBox="1"/>
          <p:nvPr/>
        </p:nvSpPr>
        <p:spPr>
          <a:xfrm>
            <a:off x="72237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Store</a:t>
            </a:r>
            <a:endParaRPr lang="en-US" sz="1500" dirty="0"/>
          </a:p>
        </p:txBody>
      </p:sp>
      <p:sp>
        <p:nvSpPr>
          <p:cNvPr id="17" name="step 5 body"/>
          <p:cNvSpPr txBox="1"/>
          <p:nvPr/>
        </p:nvSpPr>
        <p:spPr>
          <a:xfrm>
            <a:off x="69494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Images go to GHCR, named by commit</a:t>
            </a:r>
            <a:endParaRPr lang="en-US" sz="1400" dirty="0"/>
          </a:p>
        </p:txBody>
      </p:sp>
      <p:sp>
        <p:nvSpPr>
          <p:cNvPr id="18" name="step 6 chevron"/>
          <p:cNvSpPr/>
          <p:nvPr/>
        </p:nvSpPr>
        <p:spPr>
          <a:xfrm>
            <a:off x="8549640" y="1920240"/>
            <a:ext cx="1508760" cy="822960"/>
          </a:xfrm>
          <a:prstGeom prst="chevron">
            <a:avLst/>
          </a:prstGeom>
          <a:solidFill>
            <a:srgbClr val="2DE2F5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19" name="step 6 head"/>
          <p:cNvSpPr txBox="1"/>
          <p:nvPr/>
        </p:nvSpPr>
        <p:spPr>
          <a:xfrm>
            <a:off x="88239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4"/>
                </a:solidFill>
              </a:rPr>
              <a:t>Deploy</a:t>
            </a:r>
            <a:endParaRPr lang="en-US" sz="1500" dirty="0"/>
          </a:p>
        </p:txBody>
      </p:sp>
      <p:sp>
        <p:nvSpPr>
          <p:cNvPr id="20" name="step 6 body"/>
          <p:cNvSpPr txBox="1"/>
          <p:nvPr/>
        </p:nvSpPr>
        <p:spPr>
          <a:xfrm>
            <a:off x="85496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Argo CD updates the cluster</a:t>
            </a:r>
            <a:endParaRPr lang="en-US" sz="1400" dirty="0"/>
          </a:p>
        </p:txBody>
      </p:sp>
      <p:sp>
        <p:nvSpPr>
          <p:cNvPr id="21" name="step 7 chevron"/>
          <p:cNvSpPr/>
          <p:nvPr/>
        </p:nvSpPr>
        <p:spPr>
          <a:xfrm>
            <a:off x="10149840" y="1920240"/>
            <a:ext cx="1508760" cy="822960"/>
          </a:xfrm>
          <a:prstGeom prst="chevron">
            <a:avLst/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</p:spPr>
      </p:sp>
      <p:sp>
        <p:nvSpPr>
          <p:cNvPr id="22" name="step 7 head"/>
          <p:cNvSpPr txBox="1"/>
          <p:nvPr/>
        </p:nvSpPr>
        <p:spPr>
          <a:xfrm>
            <a:off x="1042416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Watch</a:t>
            </a:r>
            <a:endParaRPr lang="en-US" sz="1500" dirty="0"/>
          </a:p>
        </p:txBody>
      </p:sp>
      <p:sp>
        <p:nvSpPr>
          <p:cNvPr id="23" name="step 7 body"/>
          <p:cNvSpPr txBox="1"/>
          <p:nvPr/>
        </p:nvSpPr>
        <p:spPr>
          <a:xfrm>
            <a:off x="101498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Prometheus and Grafana</a:t>
            </a:r>
            <a:endParaRPr lang="en-US" sz="1400" dirty="0"/>
          </a:p>
        </p:txBody>
      </p:sp>
      <p:sp>
        <p:nvSpPr>
          <p:cNvPr id="24" name="rule card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25" name="rule text"/>
          <p:cNvSpPr txBox="1"/>
          <p:nvPr/>
        </p:nvSpPr>
        <p:spPr>
          <a:xfrm>
            <a:off x="868680" y="45262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One rule holds it together: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if a test or the security scan fails, nothing after it runs. A broken change never becomes an image, and an image never reaches the cafe without passing both.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Every push is tested and scanned</a:t>
            </a:r>
            <a:endParaRPr lang="en-US" sz="3600" dirty="0"/>
          </a:p>
        </p:txBody>
      </p:sp>
      <p:sp>
        <p:nvSpPr>
          <p:cNvPr id="3" name="actions run frame"/>
          <p:cNvSpPr/>
          <p:nvPr/>
        </p:nvSpPr>
        <p:spPr>
          <a:xfrm>
            <a:off x="493776" y="1316736"/>
            <a:ext cx="6876288" cy="4343400"/>
          </a:xfrm>
          <a:prstGeom prst="roundRect">
            <a:avLst>
              <a:gd name="adj" fmla="val 1684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actions run" descr="/Users/riteshprajapati/Desktop/SST/respawnhub/docs/screenshots/27-actions-g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766560" cy="4233672"/>
          </a:xfrm>
          <a:prstGeom prst="rect">
            <a:avLst/>
          </a:prstGeom>
        </p:spPr>
      </p:pic>
      <p:sp>
        <p:nvSpPr>
          <p:cNvPr id="5" name="tests value"/>
          <p:cNvSpPr txBox="1"/>
          <p:nvPr/>
        </p:nvSpPr>
        <p:spPr>
          <a:xfrm>
            <a:off x="786384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4F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4800" dirty="0"/>
          </a:p>
        </p:txBody>
      </p:sp>
      <p:sp>
        <p:nvSpPr>
          <p:cNvPr id="6" name="tests label"/>
          <p:cNvSpPr txBox="1"/>
          <p:nvPr/>
        </p:nvSpPr>
        <p:spPr>
          <a:xfrm>
            <a:off x="786384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automatic tests pass on every push</a:t>
            </a:r>
            <a:endParaRPr lang="en-US" sz="1400" dirty="0"/>
          </a:p>
        </p:txBody>
      </p:sp>
      <p:sp>
        <p:nvSpPr>
          <p:cNvPr id="7" name="cves value"/>
          <p:cNvSpPr txBox="1"/>
          <p:nvPr/>
        </p:nvSpPr>
        <p:spPr>
          <a:xfrm>
            <a:off x="786384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→ 0</a:t>
            </a:r>
            <a:endParaRPr lang="en-US" sz="4800" dirty="0"/>
          </a:p>
        </p:txBody>
      </p:sp>
      <p:sp>
        <p:nvSpPr>
          <p:cNvPr id="8" name="cves label"/>
          <p:cNvSpPr txBox="1"/>
          <p:nvPr/>
        </p:nvSpPr>
        <p:spPr>
          <a:xfrm>
            <a:off x="786384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serious security problems in the web server image, fixed by updating its packages</a:t>
            </a:r>
            <a:endParaRPr lang="en-US" sz="1400" dirty="0"/>
          </a:p>
        </p:txBody>
      </p:sp>
      <p:sp>
        <p:nvSpPr>
          <p:cNvPr id="9" name="duration value"/>
          <p:cNvSpPr txBox="1"/>
          <p:nvPr/>
        </p:nvSpPr>
        <p:spPr>
          <a:xfrm>
            <a:off x="7863840" y="4114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min</a:t>
            </a:r>
            <a:endParaRPr lang="en-US" sz="4800" dirty="0"/>
          </a:p>
        </p:txBody>
      </p:sp>
      <p:sp>
        <p:nvSpPr>
          <p:cNvPr id="10" name="duration label"/>
          <p:cNvSpPr txBox="1"/>
          <p:nvPr/>
        </p:nvSpPr>
        <p:spPr>
          <a:xfrm>
            <a:off x="786384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from push to new images in the registry</a:t>
            </a:r>
            <a:endParaRPr lang="en-US" sz="1400" dirty="0"/>
          </a:p>
        </p:txBody>
      </p:sp>
      <p:sp>
        <p:nvSpPr>
          <p:cNvPr id="11" name="sha note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Each image is named after the commit that made it, so any running copy can be traced back to the exact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Running on Kubernetes</a:t>
            </a:r>
            <a:endParaRPr lang="en-US" sz="3600" dirty="0"/>
          </a:p>
        </p:txBody>
      </p:sp>
      <p:sp>
        <p:nvSpPr>
          <p:cNvPr id="3" name="k8s resources frame"/>
          <p:cNvSpPr/>
          <p:nvPr/>
        </p:nvSpPr>
        <p:spPr>
          <a:xfrm>
            <a:off x="493776" y="1316736"/>
            <a:ext cx="7059168" cy="4681728"/>
          </a:xfrm>
          <a:prstGeom prst="roundRect">
            <a:avLst>
              <a:gd name="adj" fmla="val 1563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k8s resources" descr="/Users/riteshprajapati/Desktop/SST/respawnhub/docs/screenshots/15-k8s-resour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572000"/>
          </a:xfrm>
          <a:prstGeom prst="rect">
            <a:avLst/>
          </a:prstGeom>
        </p:spPr>
      </p:pic>
      <p:sp>
        <p:nvSpPr>
          <p:cNvPr id="5" name="k8s 1 head"/>
          <p:cNvSpPr txBox="1"/>
          <p:nvPr/>
        </p:nvSpPr>
        <p:spPr>
          <a:xfrm>
            <a:off x="79552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Two of everything</a:t>
            </a:r>
            <a:endParaRPr lang="en-US" sz="1800" dirty="0"/>
          </a:p>
        </p:txBody>
      </p:sp>
      <p:sp>
        <p:nvSpPr>
          <p:cNvPr id="6" name="k8s 1 body"/>
          <p:cNvSpPr txBox="1"/>
          <p:nvPr/>
        </p:nvSpPr>
        <p:spPr>
          <a:xfrm>
            <a:off x="79552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Two copies of the app and the web front end, so one can fail without anyone noticing.</a:t>
            </a:r>
            <a:endParaRPr lang="en-US" sz="1500" dirty="0"/>
          </a:p>
        </p:txBody>
      </p:sp>
      <p:sp>
        <p:nvSpPr>
          <p:cNvPr id="7" name="k8s 2 head"/>
          <p:cNvSpPr txBox="1"/>
          <p:nvPr/>
        </p:nvSpPr>
        <p:spPr>
          <a:xfrm>
            <a:off x="79552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Heals itself</a:t>
            </a:r>
            <a:endParaRPr lang="en-US" sz="1800" dirty="0"/>
          </a:p>
        </p:txBody>
      </p:sp>
      <p:sp>
        <p:nvSpPr>
          <p:cNvPr id="8" name="k8s 2 body"/>
          <p:cNvSpPr txBox="1"/>
          <p:nvPr/>
        </p:nvSpPr>
        <p:spPr>
          <a:xfrm>
            <a:off x="795528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crashed copy is replaced automatically.</a:t>
            </a:r>
            <a:endParaRPr lang="en-US" sz="1500" dirty="0"/>
          </a:p>
        </p:txBody>
      </p:sp>
      <p:sp>
        <p:nvSpPr>
          <p:cNvPr id="9" name="k8s 3 head"/>
          <p:cNvSpPr txBox="1"/>
          <p:nvPr/>
        </p:nvSpPr>
        <p:spPr>
          <a:xfrm>
            <a:off x="79552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One front door</a:t>
            </a:r>
            <a:endParaRPr lang="en-US" sz="1800" dirty="0"/>
          </a:p>
        </p:txBody>
      </p:sp>
      <p:sp>
        <p:nvSpPr>
          <p:cNvPr id="10" name="k8s 3 body"/>
          <p:cNvSpPr txBox="1"/>
          <p:nvPr/>
        </p:nvSpPr>
        <p:spPr>
          <a:xfrm>
            <a:off x="7955280" y="4069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An Ingress sends / to the screens and /api to the backend.</a:t>
            </a:r>
            <a:endParaRPr lang="en-US" sz="1500" dirty="0"/>
          </a:p>
        </p:txBody>
      </p:sp>
      <p:sp>
        <p:nvSpPr>
          <p:cNvPr id="11" name="k8s 4 head"/>
          <p:cNvSpPr txBox="1"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survives</a:t>
            </a:r>
            <a:endParaRPr lang="en-US" sz="1800" dirty="0"/>
          </a:p>
        </p:txBody>
      </p:sp>
      <p:sp>
        <p:nvSpPr>
          <p:cNvPr id="12" name="k8s 4 body"/>
          <p:cNvSpPr txBox="1"/>
          <p:nvPr/>
        </p:nvSpPr>
        <p:spPr>
          <a:xfrm>
            <a:off x="795528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Postgres keeps its data on a volume, not inside the container.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Git decides what runs</a:t>
            </a:r>
            <a:endParaRPr lang="en-US" sz="3600" dirty="0"/>
          </a:p>
        </p:txBody>
      </p:sp>
      <p:sp>
        <p:nvSpPr>
          <p:cNvPr id="3" name="argo cd frame"/>
          <p:cNvSpPr/>
          <p:nvPr/>
        </p:nvSpPr>
        <p:spPr>
          <a:xfrm>
            <a:off x="493776" y="13167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argo cd" descr="/Users/riteshprajapati/Desktop/SST/respawnhub/docs/screenshots/25-argocd-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gitops 1 dot"/>
          <p:cNvSpPr/>
          <p:nvPr/>
        </p:nvSpPr>
        <p:spPr>
          <a:xfrm>
            <a:off x="7955280" y="1417320"/>
            <a:ext cx="457200" cy="45720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6" name="gitops 1 label"/>
          <p:cNvSpPr txBox="1"/>
          <p:nvPr/>
        </p:nvSpPr>
        <p:spPr>
          <a:xfrm>
            <a:off x="7955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gitops 1 text"/>
          <p:cNvSpPr txBox="1"/>
          <p:nvPr/>
        </p:nvSpPr>
        <p:spPr>
          <a:xfrm>
            <a:off x="8595360" y="1371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 commit "Show the running build in the top bar"</a:t>
            </a:r>
            <a:endParaRPr lang="en-US" sz="1500" dirty="0"/>
          </a:p>
        </p:txBody>
      </p:sp>
      <p:sp>
        <p:nvSpPr>
          <p:cNvPr id="8" name="gitops 2 dot"/>
          <p:cNvSpPr/>
          <p:nvPr/>
        </p:nvSpPr>
        <p:spPr>
          <a:xfrm>
            <a:off x="7955280" y="2313432"/>
            <a:ext cx="457200" cy="45720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9" name="gitops 2 label"/>
          <p:cNvSpPr txBox="1"/>
          <p:nvPr/>
        </p:nvSpPr>
        <p:spPr>
          <a:xfrm>
            <a:off x="79552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gitops 2 text"/>
          <p:cNvSpPr txBox="1"/>
          <p:nvPr/>
        </p:nvSpPr>
        <p:spPr>
          <a:xfrm>
            <a:off x="8595360" y="22677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pipeline tests, scans and pushes images c76f3fe</a:t>
            </a:r>
            <a:endParaRPr lang="en-US" sz="1500" dirty="0"/>
          </a:p>
        </p:txBody>
      </p:sp>
      <p:sp>
        <p:nvSpPr>
          <p:cNvPr id="11" name="gitops 3 dot"/>
          <p:cNvSpPr/>
          <p:nvPr/>
        </p:nvSpPr>
        <p:spPr>
          <a:xfrm>
            <a:off x="7955280" y="3209544"/>
            <a:ext cx="457200" cy="45720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2" name="gitops 3 label"/>
          <p:cNvSpPr txBox="1"/>
          <p:nvPr/>
        </p:nvSpPr>
        <p:spPr>
          <a:xfrm>
            <a:off x="79552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gitops 3 text"/>
          <p:cNvSpPr txBox="1"/>
          <p:nvPr/>
        </p:nvSpPr>
        <p:spPr>
          <a:xfrm>
            <a:off x="8595360" y="316382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It commits "Deploy c76f3fe" to the Helm values</a:t>
            </a:r>
            <a:endParaRPr lang="en-US" sz="1500" dirty="0"/>
          </a:p>
        </p:txBody>
      </p:sp>
      <p:sp>
        <p:nvSpPr>
          <p:cNvPr id="14" name="gitops 4 dot"/>
          <p:cNvSpPr/>
          <p:nvPr/>
        </p:nvSpPr>
        <p:spPr>
          <a:xfrm>
            <a:off x="7955280" y="4105656"/>
            <a:ext cx="457200" cy="45720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5" name="gitops 4 label"/>
          <p:cNvSpPr txBox="1"/>
          <p:nvPr/>
        </p:nvSpPr>
        <p:spPr>
          <a:xfrm>
            <a:off x="795528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gitops 4 text"/>
          <p:cNvSpPr txBox="1"/>
          <p:nvPr/>
        </p:nvSpPr>
        <p:spPr>
          <a:xfrm>
            <a:off x="8595360" y="40599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Argo CD sees Git changed and rolls the pods</a:t>
            </a:r>
            <a:endParaRPr lang="en-US" sz="1500" dirty="0"/>
          </a:p>
        </p:txBody>
      </p:sp>
      <p:sp>
        <p:nvSpPr>
          <p:cNvPr id="17" name="gitops 5 dot"/>
          <p:cNvSpPr/>
          <p:nvPr/>
        </p:nvSpPr>
        <p:spPr>
          <a:xfrm>
            <a:off x="7955280" y="5001768"/>
            <a:ext cx="457200" cy="45720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8" name="gitops 5 label"/>
          <p:cNvSpPr txBox="1"/>
          <p:nvPr/>
        </p:nvSpPr>
        <p:spPr>
          <a:xfrm>
            <a:off x="795528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14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gitops 5 text"/>
          <p:cNvSpPr txBox="1"/>
          <p:nvPr/>
        </p:nvSpPr>
        <p:spPr>
          <a:xfrm>
            <a:off x="8595360" y="49560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app now says build c76f3fe in its top bar</a:t>
            </a:r>
            <a:endParaRPr lang="en-US" sz="1500" dirty="0"/>
          </a:p>
        </p:txBody>
      </p:sp>
      <p:sp>
        <p:nvSpPr>
          <p:cNvPr id="20" name="self heal note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Nobody runs kubectl to deploy. Changes made by hand in the cluster are put back to what Git says.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Ready for a Friday night rush</a:t>
            </a:r>
            <a:endParaRPr lang="en-US" sz="3600" dirty="0"/>
          </a:p>
        </p:txBody>
      </p:sp>
      <p:sp>
        <p:nvSpPr>
          <p:cNvPr id="3" name="grafana frame"/>
          <p:cNvSpPr/>
          <p:nvPr/>
        </p:nvSpPr>
        <p:spPr>
          <a:xfrm>
            <a:off x="493776" y="1316736"/>
            <a:ext cx="7059168" cy="4681728"/>
          </a:xfrm>
          <a:prstGeom prst="roundRect">
            <a:avLst>
              <a:gd name="adj" fmla="val 1563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grafana" descr="/Users/riteshprajapati/Desktop/SST/respawnhub/docs/screenshots/19-grafana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572000"/>
          </a:xfrm>
          <a:prstGeom prst="rect">
            <a:avLst/>
          </a:prstGeom>
        </p:spPr>
      </p:pic>
      <p:sp>
        <p:nvSpPr>
          <p:cNvPr id="5" name="scale value"/>
          <p:cNvSpPr txBox="1"/>
          <p:nvPr/>
        </p:nvSpPr>
        <p:spPr>
          <a:xfrm>
            <a:off x="795528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→ 6</a:t>
            </a:r>
            <a:endParaRPr lang="en-US" sz="4800" dirty="0"/>
          </a:p>
        </p:txBody>
      </p:sp>
      <p:sp>
        <p:nvSpPr>
          <p:cNvPr id="6" name="scale label"/>
          <p:cNvSpPr txBox="1"/>
          <p:nvPr/>
        </p:nvSpPr>
        <p:spPr>
          <a:xfrm>
            <a:off x="79552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backend copies added automatically when CPU passed 60%</a:t>
            </a:r>
            <a:endParaRPr lang="en-US" sz="1400" dirty="0"/>
          </a:p>
        </p:txBody>
      </p:sp>
      <p:sp>
        <p:nvSpPr>
          <p:cNvPr id="7" name="rps value"/>
          <p:cNvSpPr txBox="1"/>
          <p:nvPr/>
        </p:nvSpPr>
        <p:spPr>
          <a:xfrm>
            <a:off x="795528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</a:t>
            </a:r>
            <a:endParaRPr lang="en-US" sz="4800" dirty="0"/>
          </a:p>
        </p:txBody>
      </p:sp>
      <p:sp>
        <p:nvSpPr>
          <p:cNvPr id="8" name="rps label"/>
          <p:cNvSpPr txBox="1"/>
          <p:nvPr/>
        </p:nvSpPr>
        <p:spPr>
          <a:xfrm>
            <a:off x="79552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requests a second at the peak of the load test</a:t>
            </a:r>
            <a:endParaRPr lang="en-US" sz="1400" dirty="0"/>
          </a:p>
        </p:txBody>
      </p:sp>
      <p:sp>
        <p:nvSpPr>
          <p:cNvPr id="9" name="errors value"/>
          <p:cNvSpPr txBox="1"/>
          <p:nvPr/>
        </p:nvSpPr>
        <p:spPr>
          <a:xfrm>
            <a:off x="7955280" y="4114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4F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4800" dirty="0"/>
          </a:p>
        </p:txBody>
      </p:sp>
      <p:sp>
        <p:nvSpPr>
          <p:cNvPr id="10" name="errors label"/>
          <p:cNvSpPr txBox="1"/>
          <p:nvPr/>
        </p:nvSpPr>
        <p:spPr>
          <a:xfrm>
            <a:off x="795528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server errors during the test</a:t>
            </a:r>
            <a:endParaRPr lang="en-US" sz="1400" dirty="0"/>
          </a:p>
        </p:txBody>
      </p:sp>
      <p:sp>
        <p:nvSpPr>
          <p:cNvPr id="11" name="grafana note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Grafana shows traffic, speed, errors, bookings and the autoscaler in one place.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On AWS, built from code</a:t>
            </a:r>
            <a:endParaRPr lang="en-US" sz="3600" dirty="0"/>
          </a:p>
        </p:txBody>
      </p:sp>
      <p:sp>
        <p:nvSpPr>
          <p:cNvPr id="3" name="aws console frame"/>
          <p:cNvSpPr/>
          <p:nvPr/>
        </p:nvSpPr>
        <p:spPr>
          <a:xfrm>
            <a:off x="493776" y="1316736"/>
            <a:ext cx="7059168" cy="4453128"/>
          </a:xfrm>
          <a:prstGeom prst="roundRect">
            <a:avLst>
              <a:gd name="adj" fmla="val 1643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aws console" descr="/Users/riteshprajapati/Desktop/SST/respawnhub/docs/screenshots/31-aws-eks-clu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5" name="aws 1 head"/>
          <p:cNvSpPr txBox="1"/>
          <p:nvPr/>
        </p:nvSpPr>
        <p:spPr>
          <a:xfrm>
            <a:off x="79552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Network</a:t>
            </a:r>
            <a:endParaRPr lang="en-US" sz="1800" dirty="0"/>
          </a:p>
        </p:txBody>
      </p:sp>
      <p:sp>
        <p:nvSpPr>
          <p:cNvPr id="6" name="aws 1 body"/>
          <p:cNvSpPr txBox="1"/>
          <p:nvPr/>
        </p:nvSpPr>
        <p:spPr>
          <a:xfrm>
            <a:off x="79552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private network across two data centres in Mumbai, with public and private subnets</a:t>
            </a:r>
            <a:endParaRPr lang="en-US" sz="1500" dirty="0"/>
          </a:p>
        </p:txBody>
      </p:sp>
      <p:sp>
        <p:nvSpPr>
          <p:cNvPr id="7" name="aws 2 head"/>
          <p:cNvSpPr txBox="1"/>
          <p:nvPr/>
        </p:nvSpPr>
        <p:spPr>
          <a:xfrm>
            <a:off x="79552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Cluster</a:t>
            </a:r>
            <a:endParaRPr lang="en-US" sz="1800" dirty="0"/>
          </a:p>
        </p:txBody>
      </p:sp>
      <p:sp>
        <p:nvSpPr>
          <p:cNvPr id="8" name="aws 2 body"/>
          <p:cNvSpPr txBox="1"/>
          <p:nvPr/>
        </p:nvSpPr>
        <p:spPr>
          <a:xfrm>
            <a:off x="795528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Amazon EKS with two worker machines</a:t>
            </a:r>
            <a:endParaRPr lang="en-US" sz="1500" dirty="0"/>
          </a:p>
        </p:txBody>
      </p:sp>
      <p:sp>
        <p:nvSpPr>
          <p:cNvPr id="9" name="aws 3 head"/>
          <p:cNvSpPr txBox="1"/>
          <p:nvPr/>
        </p:nvSpPr>
        <p:spPr>
          <a:xfrm>
            <a:off x="79552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Same app</a:t>
            </a:r>
            <a:endParaRPr lang="en-US" sz="1800" dirty="0"/>
          </a:p>
        </p:txBody>
      </p:sp>
      <p:sp>
        <p:nvSpPr>
          <p:cNvPr id="10" name="aws 3 body"/>
          <p:cNvSpPr txBox="1"/>
          <p:nvPr/>
        </p:nvSpPr>
        <p:spPr>
          <a:xfrm>
            <a:off x="795528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same Helm chart and Argo CD setup as on my laptop</a:t>
            </a:r>
            <a:endParaRPr lang="en-US" sz="1500" dirty="0"/>
          </a:p>
        </p:txBody>
      </p:sp>
      <p:sp>
        <p:nvSpPr>
          <p:cNvPr id="11" name="aws 4 head"/>
          <p:cNvSpPr txBox="1"/>
          <p:nvPr/>
        </p:nvSpPr>
        <p:spPr>
          <a:xfrm>
            <a:off x="795528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Clean up</a:t>
            </a:r>
            <a:endParaRPr lang="en-US" sz="1800" dirty="0"/>
          </a:p>
        </p:txBody>
      </p:sp>
      <p:sp>
        <p:nvSpPr>
          <p:cNvPr id="12" name="aws 4 body"/>
          <p:cNvSpPr txBox="1"/>
          <p:nvPr/>
        </p:nvSpPr>
        <p:spPr>
          <a:xfrm>
            <a:off x="7955280" y="5074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terraform destroy removes all of it, so nothing keeps costing money</a:t>
            </a:r>
            <a:endParaRPr lang="en-US" sz="1500" dirty="0"/>
          </a:p>
        </p:txBody>
      </p:sp>
      <p:sp>
        <p:nvSpPr>
          <p:cNvPr id="13" name="terraform note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55 AWS resources from one terraform apply. The app ran there behind an AWS load balancer, then everything was destroyed.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When things break</a:t>
            </a:r>
            <a:endParaRPr lang="en-US" sz="3600" dirty="0"/>
          </a:p>
        </p:txBody>
      </p:sp>
      <p:sp>
        <p:nvSpPr>
          <p:cNvPr id="3" name="issue 1"/>
          <p:cNvSpPr/>
          <p:nvPr/>
        </p:nvSpPr>
        <p:spPr>
          <a:xfrm>
            <a:off x="548640" y="14630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4" name="issue 1 head"/>
          <p:cNvSpPr txBox="1"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Pod never starts</a:t>
            </a:r>
            <a:endParaRPr lang="en-US" sz="2000" dirty="0"/>
          </a:p>
        </p:txBody>
      </p:sp>
      <p:sp>
        <p:nvSpPr>
          <p:cNvPr id="5" name="issue 1 tag"/>
          <p:cNvSpPr txBox="1"/>
          <p:nvPr/>
        </p:nvSpPr>
        <p:spPr>
          <a:xfrm>
            <a:off x="8229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ImagePullBackOff</a:t>
            </a:r>
            <a:endParaRPr lang="en-US" sz="1500" dirty="0"/>
          </a:p>
        </p:txBody>
      </p:sp>
      <p:sp>
        <p:nvSpPr>
          <p:cNvPr id="6" name="issue 1 cause"/>
          <p:cNvSpPr txBox="1"/>
          <p:nvPr/>
        </p:nvSpPr>
        <p:spPr>
          <a:xfrm>
            <a:off x="82296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Cause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Deployment asked for an image tag that was never built.</a:t>
            </a:r>
            <a:endParaRPr lang="en-US" sz="1500" dirty="0"/>
          </a:p>
        </p:txBody>
      </p:sp>
      <p:sp>
        <p:nvSpPr>
          <p:cNvPr id="7" name="issue 1 fix"/>
          <p:cNvSpPr txBox="1"/>
          <p:nvPr/>
        </p:nvSpPr>
        <p:spPr>
          <a:xfrm>
            <a:off x="82296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Fix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Point it at a real commit tag.</a:t>
            </a:r>
            <a:endParaRPr lang="en-US" sz="1500" dirty="0"/>
          </a:p>
        </p:txBody>
      </p:sp>
      <p:sp>
        <p:nvSpPr>
          <p:cNvPr id="8" name="issue 2"/>
          <p:cNvSpPr/>
          <p:nvPr/>
        </p:nvSpPr>
        <p:spPr>
          <a:xfrm>
            <a:off x="4297680" y="14630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9" name="issue 2 head"/>
          <p:cNvSpPr txBox="1"/>
          <p:nvPr/>
        </p:nvSpPr>
        <p:spPr>
          <a:xfrm>
            <a:off x="45720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Service sends traffic nowhere</a:t>
            </a:r>
            <a:endParaRPr lang="en-US" sz="2000" dirty="0"/>
          </a:p>
        </p:txBody>
      </p:sp>
      <p:sp>
        <p:nvSpPr>
          <p:cNvPr id="10" name="issue 2 tag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endpoints</a:t>
            </a:r>
            <a:endParaRPr lang="en-US" sz="1500" dirty="0"/>
          </a:p>
        </p:txBody>
      </p:sp>
      <p:sp>
        <p:nvSpPr>
          <p:cNvPr id="11" name="issue 2 cause"/>
          <p:cNvSpPr txBox="1"/>
          <p:nvPr/>
        </p:nvSpPr>
        <p:spPr>
          <a:xfrm>
            <a:off x="457200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Cause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Its selector looked for "api" pods; ours are labelled "backend".</a:t>
            </a:r>
            <a:endParaRPr lang="en-US" sz="1500" dirty="0"/>
          </a:p>
        </p:txBody>
      </p:sp>
      <p:sp>
        <p:nvSpPr>
          <p:cNvPr id="12" name="issue 2 fix"/>
          <p:cNvSpPr txBox="1"/>
          <p:nvPr/>
        </p:nvSpPr>
        <p:spPr>
          <a:xfrm>
            <a:off x="457200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Fix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Fix the selector.</a:t>
            </a:r>
            <a:endParaRPr lang="en-US" sz="1500" dirty="0"/>
          </a:p>
        </p:txBody>
      </p:sp>
      <p:sp>
        <p:nvSpPr>
          <p:cNvPr id="13" name="issue 3"/>
          <p:cNvSpPr/>
          <p:nvPr/>
        </p:nvSpPr>
        <p:spPr>
          <a:xfrm>
            <a:off x="8046720" y="14630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4" name="issue 3 head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Pod keeps restarting</a:t>
            </a:r>
            <a:endParaRPr lang="en-US" sz="2000" dirty="0"/>
          </a:p>
        </p:txBody>
      </p:sp>
      <p:sp>
        <p:nvSpPr>
          <p:cNvPr id="15" name="issue 3 tag"/>
          <p:cNvSpPr txBox="1"/>
          <p:nvPr/>
        </p:nvSpPr>
        <p:spPr>
          <a:xfrm>
            <a:off x="832104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CrashLoopBackOff</a:t>
            </a:r>
            <a:endParaRPr lang="en-US" sz="1500" dirty="0"/>
          </a:p>
        </p:txBody>
      </p:sp>
      <p:sp>
        <p:nvSpPr>
          <p:cNvPr id="16" name="issue 3 cause"/>
          <p:cNvSpPr txBox="1"/>
          <p:nvPr/>
        </p:nvSpPr>
        <p:spPr>
          <a:xfrm>
            <a:off x="8321040" y="27432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Cause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Logs said the database password was wrong.</a:t>
            </a:r>
            <a:endParaRPr lang="en-US" sz="1500" dirty="0"/>
          </a:p>
        </p:txBody>
      </p:sp>
      <p:sp>
        <p:nvSpPr>
          <p:cNvPr id="17" name="issue 3 fix"/>
          <p:cNvSpPr txBox="1"/>
          <p:nvPr/>
        </p:nvSpPr>
        <p:spPr>
          <a:xfrm>
            <a:off x="8321040" y="4069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Fix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Use the right Secret.</a:t>
            </a:r>
            <a:endParaRPr lang="en-US" sz="1500" dirty="0"/>
          </a:p>
        </p:txBody>
      </p:sp>
      <p:sp>
        <p:nvSpPr>
          <p:cNvPr id="18" name="runbook note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Each one was broken on purpose and fixed with kubectl get, describe and logs. The steps are in troubleshooting/RUNBOOK.md.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Why Kubernetes and not something simpler</a:t>
            </a:r>
            <a:endParaRPr lang="en-US" sz="3600" dirty="0"/>
          </a:p>
        </p:txBody>
      </p:sp>
      <p:graphicFrame>
        <p:nvGraphicFramePr>
          <p:cNvPr id="13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on one server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ECS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(kind and EKS)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Replaces crashed copies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server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Adds copies under load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4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setup on laptop and cloud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4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Deploys from Git (GitOps)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4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extra tools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to start with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4F0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B0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6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</a:tr>
            </a:tbl>
          </a:graphicData>
        </a:graphic>
      </p:graphicFrame>
      <p:sp>
        <p:nvSpPr>
          <p:cNvPr id="4" name="verdict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Compose is still what I use on my laptop. Kubernetes wins once the app has to stay up, grow and be deployed the same way everywhere.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went wrong and what I changed</a:t>
            </a:r>
            <a:endParaRPr lang="en-US" sz="3600" dirty="0"/>
          </a:p>
        </p:txBody>
      </p:sp>
      <p:sp>
        <p:nvSpPr>
          <p:cNvPr id="3" name="lesson 1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4" name="lesson 1 dot"/>
          <p:cNvSpPr/>
          <p:nvPr/>
        </p:nvSpPr>
        <p:spPr>
          <a:xfrm>
            <a:off x="822960" y="1664208"/>
            <a:ext cx="274320" cy="274320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4FD8"/>
            </a:solidFill>
            <a:prstDash val="solid"/>
          </a:ln>
        </p:spPr>
      </p:sp>
      <p:sp>
        <p:nvSpPr>
          <p:cNvPr id="5" name="lesson 1 head"/>
          <p:cNvSpPr txBox="1"/>
          <p:nvPr/>
        </p:nvSpPr>
        <p:spPr>
          <a:xfrm>
            <a:off x="1280160" y="1572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Database restarted on every deploy</a:t>
            </a:r>
            <a:endParaRPr lang="en-US" sz="1900" dirty="0"/>
          </a:p>
        </p:txBody>
      </p:sp>
      <p:sp>
        <p:nvSpPr>
          <p:cNvPr id="6" name="lesson 1 body"/>
          <p:cNvSpPr txBox="1"/>
          <p:nvPr/>
        </p:nvSpPr>
        <p:spPr>
          <a:xfrm>
            <a:off x="1280160" y="20299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label that changes with each version was on the Postgres pods. Moved it off.</a:t>
            </a:r>
            <a:endParaRPr lang="en-US" sz="1500" dirty="0"/>
          </a:p>
        </p:txBody>
      </p:sp>
      <p:sp>
        <p:nvSpPr>
          <p:cNvPr id="7" name="lesson 2"/>
          <p:cNvSpPr/>
          <p:nvPr/>
        </p:nvSpPr>
        <p:spPr>
          <a:xfrm>
            <a:off x="6172200" y="137160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8" name="lesson 2 dot"/>
          <p:cNvSpPr/>
          <p:nvPr/>
        </p:nvSpPr>
        <p:spPr>
          <a:xfrm>
            <a:off x="6446520" y="1664208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lesson 2 head"/>
          <p:cNvSpPr txBox="1"/>
          <p:nvPr/>
        </p:nvSpPr>
        <p:spPr>
          <a:xfrm>
            <a:off x="6903720" y="1572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Load test only reached two copies</a:t>
            </a:r>
            <a:endParaRPr lang="en-US" sz="1900" dirty="0"/>
          </a:p>
        </p:txBody>
      </p:sp>
      <p:sp>
        <p:nvSpPr>
          <p:cNvPr id="10" name="lesson 2 body"/>
          <p:cNvSpPr txBox="1"/>
          <p:nvPr/>
        </p:nvSpPr>
        <p:spPr>
          <a:xfrm>
            <a:off x="6903720" y="20299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Kept-open connections stuck to the first pods. New connection per request fixed it.</a:t>
            </a:r>
            <a:endParaRPr lang="en-US" sz="1500" dirty="0"/>
          </a:p>
        </p:txBody>
      </p:sp>
      <p:sp>
        <p:nvSpPr>
          <p:cNvPr id="11" name="lesson 3"/>
          <p:cNvSpPr/>
          <p:nvPr/>
        </p:nvSpPr>
        <p:spPr>
          <a:xfrm>
            <a:off x="548640" y="306324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2" name="lesson 3 dot"/>
          <p:cNvSpPr/>
          <p:nvPr/>
        </p:nvSpPr>
        <p:spPr>
          <a:xfrm>
            <a:off x="822960" y="3355848"/>
            <a:ext cx="274320" cy="274320"/>
          </a:xfrm>
          <a:prstGeom prst="ellipse">
            <a:avLst/>
          </a:prstGeom>
          <a:solidFill>
            <a:srgbClr val="2DE2F5"/>
          </a:solidFill>
          <a:ln w="12700">
            <a:solidFill>
              <a:srgbClr val="2DE2F5"/>
            </a:solidFill>
            <a:prstDash val="solid"/>
          </a:ln>
        </p:spPr>
      </p:sp>
      <p:sp>
        <p:nvSpPr>
          <p:cNvPr id="13" name="lesson 3 head"/>
          <p:cNvSpPr txBox="1"/>
          <p:nvPr/>
        </p:nvSpPr>
        <p:spPr>
          <a:xfrm>
            <a:off x="1280160" y="3264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First booking never showed in Grafana</a:t>
            </a:r>
            <a:endParaRPr lang="en-US" sz="1900" dirty="0"/>
          </a:p>
        </p:txBody>
      </p:sp>
      <p:sp>
        <p:nvSpPr>
          <p:cNvPr id="14" name="lesson 3 body"/>
          <p:cNvSpPr txBox="1"/>
          <p:nvPr/>
        </p:nvSpPr>
        <p:spPr>
          <a:xfrm>
            <a:off x="1280160" y="37216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Counters appeared only after the first booking. They now start at zero.</a:t>
            </a:r>
            <a:endParaRPr lang="en-US" sz="1500" dirty="0"/>
          </a:p>
        </p:txBody>
      </p:sp>
      <p:sp>
        <p:nvSpPr>
          <p:cNvPr id="15" name="lesson 4"/>
          <p:cNvSpPr/>
          <p:nvPr/>
        </p:nvSpPr>
        <p:spPr>
          <a:xfrm>
            <a:off x="6172200" y="306324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16" name="lesson 4 dot"/>
          <p:cNvSpPr/>
          <p:nvPr/>
        </p:nvSpPr>
        <p:spPr>
          <a:xfrm>
            <a:off x="6446520" y="3355848"/>
            <a:ext cx="274320" cy="274320"/>
          </a:xfrm>
          <a:prstGeom prst="ellipse">
            <a:avLst/>
          </a:prstGeom>
          <a:solidFill>
            <a:srgbClr val="B4F03C"/>
          </a:solidFill>
          <a:ln w="12700">
            <a:solidFill>
              <a:srgbClr val="B4F03C"/>
            </a:solidFill>
            <a:prstDash val="solid"/>
          </a:ln>
        </p:spPr>
      </p:sp>
      <p:sp>
        <p:nvSpPr>
          <p:cNvPr id="17" name="lesson 4 head"/>
          <p:cNvSpPr txBox="1"/>
          <p:nvPr/>
        </p:nvSpPr>
        <p:spPr>
          <a:xfrm>
            <a:off x="6903720" y="3264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Health check that never passed</a:t>
            </a:r>
            <a:endParaRPr lang="en-US" sz="1900" dirty="0"/>
          </a:p>
        </p:txBody>
      </p:sp>
      <p:sp>
        <p:nvSpPr>
          <p:cNvPr id="18" name="lesson 4 body"/>
          <p:cNvSpPr txBox="1"/>
          <p:nvPr/>
        </p:nvSpPr>
        <p:spPr>
          <a:xfrm>
            <a:off x="6903720" y="37216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"localhost" meant IPv6 inside the container while nginx listened on IPv4.</a:t>
            </a:r>
            <a:endParaRPr lang="en-US" sz="1500" dirty="0"/>
          </a:p>
        </p:txBody>
      </p:sp>
      <p:sp>
        <p:nvSpPr>
          <p:cNvPr id="19" name="lesson 5"/>
          <p:cNvSpPr/>
          <p:nvPr/>
        </p:nvSpPr>
        <p:spPr>
          <a:xfrm>
            <a:off x="548640" y="47548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20" name="lesson 5 dot"/>
          <p:cNvSpPr/>
          <p:nvPr/>
        </p:nvSpPr>
        <p:spPr>
          <a:xfrm>
            <a:off x="822960" y="5047488"/>
            <a:ext cx="274320" cy="274320"/>
          </a:xfrm>
          <a:prstGeom prst="ellipse">
            <a:avLst/>
          </a:prstGeom>
          <a:solidFill>
            <a:srgbClr val="FF4FD8"/>
          </a:solidFill>
          <a:ln w="12700">
            <a:solidFill>
              <a:srgbClr val="FF4FD8"/>
            </a:solidFill>
            <a:prstDash val="solid"/>
          </a:ln>
        </p:spPr>
      </p:sp>
      <p:sp>
        <p:nvSpPr>
          <p:cNvPr id="21" name="lesson 5 head"/>
          <p:cNvSpPr txBox="1"/>
          <p:nvPr/>
        </p:nvSpPr>
        <p:spPr>
          <a:xfrm>
            <a:off x="1280160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43 security problems in a base image</a:t>
            </a:r>
            <a:endParaRPr lang="en-US" sz="1900" dirty="0"/>
          </a:p>
        </p:txBody>
      </p:sp>
      <p:sp>
        <p:nvSpPr>
          <p:cNvPr id="22" name="lesson 5 body"/>
          <p:cNvSpPr txBox="1"/>
          <p:nvPr/>
        </p:nvSpPr>
        <p:spPr>
          <a:xfrm>
            <a:off x="1280160" y="5413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official nginx image had old packages. The Dockerfile now updates them.</a:t>
            </a:r>
            <a:endParaRPr lang="en-US" sz="1500" dirty="0"/>
          </a:p>
        </p:txBody>
      </p:sp>
      <p:sp>
        <p:nvSpPr>
          <p:cNvPr id="23" name="lesson 6"/>
          <p:cNvSpPr/>
          <p:nvPr/>
        </p:nvSpPr>
        <p:spPr>
          <a:xfrm>
            <a:off x="6172200" y="47548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51A24"/>
          </a:solidFill>
          <a:ln w="12700">
            <a:solidFill>
              <a:srgbClr val="1F2633"/>
            </a:solidFill>
            <a:prstDash val="solid"/>
          </a:ln>
        </p:spPr>
      </p:sp>
      <p:sp>
        <p:nvSpPr>
          <p:cNvPr id="24" name="lesson 6 dot"/>
          <p:cNvSpPr/>
          <p:nvPr/>
        </p:nvSpPr>
        <p:spPr>
          <a:xfrm>
            <a:off x="6446520" y="5047488"/>
            <a:ext cx="274320" cy="2743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lesson 6 head"/>
          <p:cNvSpPr txBox="1"/>
          <p:nvPr/>
        </p:nvSpPr>
        <p:spPr>
          <a:xfrm>
            <a:off x="6903720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Backend crashed on first start</a:t>
            </a:r>
            <a:endParaRPr lang="en-US" sz="1900" dirty="0"/>
          </a:p>
        </p:txBody>
      </p:sp>
      <p:sp>
        <p:nvSpPr>
          <p:cNvPr id="26" name="lesson 6 body"/>
          <p:cNvSpPr txBox="1"/>
          <p:nvPr/>
        </p:nvSpPr>
        <p:spPr>
          <a:xfrm>
            <a:off x="6903720" y="5413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It started before Postgres was ready. Compose now waits for a health check.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49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 title"/>
          <p:cNvSpPr txBox="1"/>
          <p:nvPr/>
        </p:nvSpPr>
        <p:spPr>
          <a:xfrm>
            <a:off x="548640" y="2011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close body"/>
          <p:cNvSpPr txBox="1"/>
          <p:nvPr/>
        </p:nvSpPr>
        <p:spPr>
          <a:xfrm>
            <a:off x="548640" y="34290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Change the code, push, and watch the pipeline, Argo CD and the floor screen pick it up.</a:t>
            </a:r>
            <a:endParaRPr lang="en-US" sz="2000" dirty="0"/>
          </a:p>
        </p:txBody>
      </p:sp>
      <p:sp>
        <p:nvSpPr>
          <p:cNvPr id="4" name="repo link close">
            <a:hlinkClick r:id="rId1" tooltip=""/>
          </p:cNvPr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github.com/Ritesh381/respawnhub</a:t>
            </a:r>
            <a:endParaRPr lang="en-US" sz="1600" dirty="0"/>
          </a:p>
        </p:txBody>
      </p:sp>
      <p:sp>
        <p:nvSpPr>
          <p:cNvPr id="5" name="phone screenshot frame"/>
          <p:cNvSpPr/>
          <p:nvPr/>
        </p:nvSpPr>
        <p:spPr>
          <a:xfrm>
            <a:off x="7808976" y="676656"/>
            <a:ext cx="2624328" cy="5550408"/>
          </a:xfrm>
          <a:prstGeom prst="roundRect">
            <a:avLst>
              <a:gd name="adj" fmla="val 2787"/>
            </a:avLst>
          </a:prstGeom>
          <a:solidFill>
            <a:srgbClr val="1F2633"/>
          </a:solidFill>
          <a:ln w="9525">
            <a:solidFill>
              <a:srgbClr val="3D46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phone screenshot" descr="/Users/riteshprajapati/Desktop/SST/respawnhub/docs/screenshots/07-compose-ui-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731520"/>
            <a:ext cx="2514600" cy="544068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2011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3429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pawnHub">
  <a:themeElements>
    <a:clrScheme name="RespawnHub">
      <a:dk1>
        <a:srgbClr val="0B0E14"/>
      </a:dk1>
      <a:lt1>
        <a:srgbClr val="E6EDF3"/>
      </a:lt1>
      <a:dk2>
        <a:srgbClr val="151A24"/>
      </a:dk2>
      <a:lt2>
        <a:srgbClr val="8B949E"/>
      </a:lt2>
      <a:accent1>
        <a:srgbClr val="2DE2F5"/>
      </a:accent1>
      <a:accent2>
        <a:srgbClr val="FF4FD8"/>
      </a:accent2>
      <a:accent3>
        <a:srgbClr val="B4F03C"/>
      </a:accent3>
      <a:accent4>
        <a:srgbClr val="FFB020"/>
      </a:accent4>
      <a:accent5>
        <a:srgbClr val="1F2633"/>
      </a:accent5>
      <a:accent6>
        <a:srgbClr val="3D4656"/>
      </a:accent6>
      <a:hlink>
        <a:srgbClr val="2DE2F5"/>
      </a:hlink>
      <a:folHlink>
        <a:srgbClr val="B4F03C"/>
      </a:folHlink>
    </a:clrScheme>
    <a:fontScheme name="RespawnHu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RespawnHub</dc:title>
  <dc:subject>PptxGenJS Presentation</dc:subject>
  <dc:creator>Ritesh Prajapati</dc:creator>
  <cp:lastModifiedBy>Ritesh Prajapati</cp:lastModifiedBy>
  <cp:revision>1</cp:revision>
  <dcterms:created xsi:type="dcterms:W3CDTF">2026-10-16T13:30:55Z</dcterms:created>
  <dcterms:modified xsi:type="dcterms:W3CDTF">2026-10-16T13:30:55Z</dcterms:modified>
</cp:coreProperties>
</file>